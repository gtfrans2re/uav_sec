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IBM Plex Sans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Barlow Semi Condensed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45F15F-94F0-4FC9-A8B7-C9066CFB889A}">
  <a:tblStyle styleId="{CB45F15F-94F0-4FC9-A8B7-C9066CFB88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IBMPlexSans-regular.fntdata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BMPlexSans-italic.fntdata"/><Relationship Id="rId25" Type="http://schemas.openxmlformats.org/officeDocument/2006/relationships/font" Target="fonts/IBMPlexSans-bold.fntdata"/><Relationship Id="rId28" Type="http://schemas.openxmlformats.org/officeDocument/2006/relationships/font" Target="fonts/Roboto-regular.fntdata"/><Relationship Id="rId27" Type="http://schemas.openxmlformats.org/officeDocument/2006/relationships/font" Target="fonts/IBMPlex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4.xml"/><Relationship Id="rId33" Type="http://schemas.openxmlformats.org/officeDocument/2006/relationships/font" Target="fonts/BarlowSemiCondensed-bold.fntdata"/><Relationship Id="rId10" Type="http://schemas.openxmlformats.org/officeDocument/2006/relationships/slide" Target="slides/slide3.xml"/><Relationship Id="rId32" Type="http://schemas.openxmlformats.org/officeDocument/2006/relationships/font" Target="fonts/BarlowSemiCondensed-regular.fntdata"/><Relationship Id="rId13" Type="http://schemas.openxmlformats.org/officeDocument/2006/relationships/slide" Target="slides/slide6.xml"/><Relationship Id="rId35" Type="http://schemas.openxmlformats.org/officeDocument/2006/relationships/font" Target="fonts/BarlowSemiCondensed-boldItalic.fntdata"/><Relationship Id="rId12" Type="http://schemas.openxmlformats.org/officeDocument/2006/relationships/slide" Target="slides/slide5.xml"/><Relationship Id="rId34" Type="http://schemas.openxmlformats.org/officeDocument/2006/relationships/font" Target="fonts/BarlowSemiCondensed-italic.fntdata"/><Relationship Id="rId15" Type="http://schemas.openxmlformats.org/officeDocument/2006/relationships/slide" Target="slides/slide8.xml"/><Relationship Id="rId37" Type="http://schemas.openxmlformats.org/officeDocument/2006/relationships/font" Target="fonts/RobotoMono-bold.fntdata"/><Relationship Id="rId14" Type="http://schemas.openxmlformats.org/officeDocument/2006/relationships/slide" Target="slides/slide7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0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9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b6808d7d1_2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b6808d7d1_2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b6808d7d1_2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b6808d7d1_2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01fb1b51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501fb1b51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b6808d7d1_2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b6808d7d1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b6808d7d1_2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7b6808d7d1_2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7b6808d7d1_2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7b6808d7d1_2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01fb1b51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01fb1b51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01fb1b51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01fb1b51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01fb1b51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01fb1b51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01fb1b51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01fb1b51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3f02f9f0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3f02f9f0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01fb1b51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01fb1b51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01fb1b51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01fb1b51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3f02f9f03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e3f02f9f0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2bfe8c88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2bfe8c88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3f02f9f03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e3f02f9f03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54" name="Google Shape;5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www.flyingeye.fr/secteurs-dactivite-drone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dhondta/dronesploit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viewer.diagrams.net/index.html?tags=%7B%7D&amp;lightbox=1&amp;highlight=0000ff&amp;edit=_blank&amp;layers=1&amp;nav=1&amp;title=uav_sec.drawio&amp;dark=auto#R%3Cmxfile%3E%3Cdiagram%20name%3D%22Page-1%22%20id%3D%22i4Tz8TYVwkYJO--1q1V5%22%3E7V3tc6q4Gv9rOuecO1OGN1E%2F4lvXGfuyR3vO7ieHQtTcAmEhtvX%2B9TcBAhJiRQtaO%2BuZrfKQhJDnl%2Bcd9krre283oRWsbpED3CtVdt6utMGVquqGppMvStkkFM1oGQllGUInoSk5YQr%2FB1KinFLX0AFRoSFGyMUwKBJt5PvAxgWaFYbotdhsgdziVQNrCUqEqW25Zepv6OBVQu205Jz%2BB4DLFbuyIqdnPIs1TgnRynLQ6xZJG15p%2FRAhnPzy3vrApavH1iXpN9pxNptYCHxcpcMQP%2FS789ntFP51O1v8ufbnf6BrtZVODm%2FYHQOHLEB6iEK8QkvkW%2B4wp%2FZCtPYdQIeVyVHeZoJQQIgKIf4XYLxJuWmtMSKkFfbc9GxyTXqhnfeSkiK0Dm3wzg0o2UoSDALkARxuSL8QuBaGL8XxrRQLy6xd1vUBQXJlVU6BqzCmMdgyfrMhsBUuAU575YtOfmxNIyfFrDiELca%2FbBGwpX1mtqQTfrHcdXoLJTZFzwDbK8aDNXahD%2FqZbKLEBfJxH7kojDto5N%2BITqG3DC0Hgvycj3zK1QV03a3mw0GbihitF%2BEQPQOusWNFqwwBLyDEkEiyifUE3AcUQQyRT849IYyRt9XAdOGSnsAUJz0rPbLJXEBYRAidewofRWXH6c3TS1pRkNzoAr7RefQCygoQDl%2FIYFE6CBGEAe3gvS2p0pCs10iXgB3NbRRAF%2BG57cIMjXSO4O19PJZx9pZpmwJemFJ5zSW5oslSNx14tS3IVXk3Ogu4OhREWvsce7sIF5fe6LVjhc%2FfCabk%2BHOl9tPf3e4PylsXvZo%2BJHosgU3NEkJrRnDzkluRtdPKCK2CjOA2gA0jG0nEgiE8cl0QRnPLd%2BYectYuiKRoE2HgzfPTRcaKdlhBDHACRNaMTrddQgQ5s4g%2F2Rlm7qg1ihKhQKxhoxstTjEYgp3OaIVtbjS1zfX9OIhZF1%2B31btqDUTyc4vRpcXMDEp5D8tHI8PcrTNK4tiFT9aTRaQwWjvSKvLmKyt0Xgkv5hGw1yHEmxSbNQnpKrxryZImktKNsa%2B1n32cIpdlw%2Bj3d%2B6FvVvI5U5kfH5PIYstjCL7%2B%2FFHtOONTkfpabttD0YewJCMnkzLp8pHKCR4IPkAv6LwOZJeYLiO6gGL%2Fun2uXoWdV6jIjYaUcS6WjS9Tm2qG4L9a7iYrqJS4Jbxz5p64D2PzAf61%2FFmNUkLOXiL15mdJ7%2BW9Ps%2BtFeAgN%2FCYB2Sdv3JmI1MJkoHT9oxYsAI3z0L%2BlJA15berSp7wF%2F%2F2Oob5F05QJH9gov8f11BDKaBFXP2lWw3CiOys6jRRigr6DjALwGtJEnqEN8KZ2Nr5S2ZxUC2t2S7qR3Zbor1t%2FeDx8lwSloMvpmzmfnn45Ccsjy6%2BP5TFGxxfQ8ULIwt%2Bzkirf5DELEDBFynaxoNC6J5FCC0gP4yhlLFfg4iNmV8zUN6LWDoxXr%2F8K5OSDRIFLgIJu7cxaO8qHdaqkDvtAUgz1zO%2BvVO9xx6p7obaRiyfAI3snMS7dXhhVXD2qtzAhE2pH%2Bu%2BtpVpzsa3k2PFWUOWAA%2FAofLMuDb4SagqEjdiUPkC3aJIAQh2dOH9KLi0%2FKRZ7mbuQMwsWnRQf3pVYk0IyDd2euSZJr%2B6YRatyncT%2F%2BezmKsd26HDPyT%2B5ub8d3NkbhfY%2BhS0LtouYxRePmmnKG3jgNElvSqHRAMaVXCaUTHUIWyvbYfccV7xORZxosuipHFFzNZuEYY%2B07nM1hhTJOVZmz1j2zHVyRoI5%2FYcA4Bjk2uqI4cC1vki9IpqF7ACtouiGPFI1UnfwbUoLpW1I4U%2BMsaeM2FSbOE5jaruyJWdxtj9aHZlWL4rEctj%2BS%2F1oAaIYQiUTVeIopo7TJRKTcjX4roCjxRRGuXiUq5GT1isy4SRbR2qzxjvrci6K1wvePY40HJKj7E1FVbAvtwe8N8utSUMA0VgsTiHNsolrkgSn4VWyViYR7h1KitKVclKUZxU3YEm1LkSjeYrFJKe%2FATeRnUx%2Fi4l1F%2FEkrWCnxUFIMbIwFZyX3YP5La4UZqOuOtNmWRPZq%2FyNnp%2BPZxkjgh5Oh7f9ybDH%2Bc2hO5NX9NoP9MTUIYYeAT0VK164BISzp9s0uvK988TC%2FeCtT4nLkoay60AvkQb31SSC6t4CeSQvXEOuqPYcgqJzsqBjH2j6TwDuAOeVabFBIl1WuRQg%2F301nmEPbvb2%2FNu8GxkZAkMkDGmU2mMTJkYqxevlfIhwkOEAjNuYUV0rOXkF23bT%2F5NU%2FrV%2Bdp0rQe1qmqRBy9%2FMNylbk1IfL6WhKr0T1NBlU7S7EjeIP4L9qd%2BEbJ0d9bZwZv6cjxwSY9%2BHRFVEozyVtF4Y0AnfcwdugOMwytzVazdBPuvhJfrmXIXBXz3qlxPciPZBL1aqDG8slU6TzejfvmbHx%2FR9r9TKzh6dB8PFIPEUUvyeQfwZr5cP9zNr18HdSWeDzqZcmlsqTNaXSQdpbS%2BUNEUL9%2FChGU6pREILzTUNUbkVV8TTiRKM2IqtKFWPHRLlFVnllqtjQrqUTlD%2B%2BFURsoUm%2BbpkIk5pcrUrfpXBZkNhjMPcu3lrXZ2EZX6uoVjDNVkZgzdhrjTGksFd0f%2FpyNR1TxTY91uMiSx9Ge6qGeNGdsh%2FjQLs%2FgK2R8W5JeQZOKvbnGgsxs4Ev35l7BU%2BCuozn5nltBEBcoQMr1OninlB5%2BEtS%2BZjKjkK7vNGYCnaUGKffcqC%2BQ%2B265Jyf23ujBAwghuXeKiTN4dPU7ahqXMlJKtRlVg3yqrnUkQ%2B9mn30DNxzzY4txzIM0XrDG7DGagHA8WIHQciO6QedP9Jngfx%2BiEUWLtC5nsMoC3aCJqgKyGGH9IqZzDhFztg2tGiqffuGXtuqGVrpGkZ1tPj%2BzYwcf6hiV5swu1Kifw8RB%2FYap%2BfAwyeMxv4fkhPz9N3h6HB%2BZmaRW5MTybeAl%2BQHnGy2o%2FmdNU4ZV84xJktF2gW%2BvsnHinKOTnGK5z4oD%2FoLRmkiWKFFjbCwXLasPYS6IK7SiNU6qbJOdQae0MwEq6D%2BF3tpl189ysBduYivtTnEzGKLKKmFVZWORKrWx9NnjbDwZT83Z8PEn2ypHeXJ31gtcsidq0JqGk0DoQSKy6cKBp8uPYKotmVOumSI9XxpNLT%2BkOqIrwwRB02GjkvW0q77sS1aRURDO44WuBWG8uhdbby2R9dZY4YZ6FuuNLFi42crt0cPEQVTkjJD7iPHRZvvoWC%2Bxnnq0CkH3qjH3xGf7gJX6Mdu9wrsQgO%2BY9DVNdD%2B6VhRBu8jLIhjOXRi4tZNEG4nRPuzV78rTH1w%2FyI9UChQ3%2FTaMCq9BaAYCTVVlnQYCegkCfPFWVQiURioVbzUMAaaF3oNAzuJdVtu2jia2wT05CzET2tvWQhERo%2FjDC4UatO213pbkVl5aw%2FIk6SpfqwLrrtsSJKhVubHwrH6W4u1jCmtqVI0Mbnt1o35W3aiLwhf17ooaUK60OKNSFXmzmibyWlqNxQT12u2Kz64O8qKGrOqJX93KJoHe2TdU0wrhbDbBhZuFZRAcbReWQcAP1TQIKlTwNmcYatrXAUGbz8tXB0G7u2eopkFQoVapKRA0k889Gwh4v%2B54SVAaqmEQsDXZAkEvtGia44qmJcgf95sV2tT6sfE6pIT4SWrZCp9QCCIb%2BMQk4mFTjgWXwn58dNCDjhObwCJLS2QvfMy04t8poxiC5ypUkWnFv9GyvpfelY1SM8lUfYn1FdiuJ17fsuE62MrefYlFFvi9J17ksnk5EWUzLnBx26J3q512cSuYbed3W69V7p2ixNkX5EKykqZCPEY7os6RHOYv8k8UY%2F7%2FQ9CG%2Fwc%3D%3C%2Fdiagram%3E%3C%2Fmxfile%3E#%7B%22pageId%22%3A%22i4Tz8TYVwkYJO--1q1V5%22%7D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hyperlink" Target="https://pypi.org/project/dronesploit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hyperlink" Target="https://www.marktechpost.com/2024/05/13/advances-and-challenges-in-drone-detection-and-classification-techniques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2119800" cy="51435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 txBox="1"/>
          <p:nvPr/>
        </p:nvSpPr>
        <p:spPr>
          <a:xfrm>
            <a:off x="2703000" y="3865750"/>
            <a:ext cx="5918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Présenté par</a:t>
            </a:r>
            <a:r>
              <a:rPr b="1" lang="en-GB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 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3F91"/>
                </a:solidFill>
                <a:latin typeface="Roboto"/>
                <a:ea typeface="Roboto"/>
                <a:cs typeface="Roboto"/>
                <a:sym typeface="Roboto"/>
              </a:rPr>
              <a:t>Francois Gonothi TOURE</a:t>
            </a:r>
            <a:endParaRPr b="1" sz="1800">
              <a:solidFill>
                <a:srgbClr val="003F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Maîtrise</a:t>
            </a:r>
            <a:r>
              <a:rPr b="1" lang="en-GB" sz="1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en informatique, concentration en systèmes électroniques (M.Sc.) (2282)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6"/>
          <p:cNvSpPr txBox="1"/>
          <p:nvPr/>
        </p:nvSpPr>
        <p:spPr>
          <a:xfrm>
            <a:off x="321150" y="2322000"/>
            <a:ext cx="14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Présentation de projet de session</a:t>
            </a:r>
            <a:endParaRPr sz="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3" name="Google Shape;63;p16"/>
          <p:cNvSpPr txBox="1"/>
          <p:nvPr/>
        </p:nvSpPr>
        <p:spPr>
          <a:xfrm>
            <a:off x="374850" y="611950"/>
            <a:ext cx="137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25 Avril 2025</a:t>
            </a:r>
            <a:r>
              <a:rPr b="1" lang="en-GB">
                <a:solidFill>
                  <a:schemeClr val="lt1"/>
                </a:solidFill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4" name="Google Shape;64;p16"/>
          <p:cNvSpPr txBox="1"/>
          <p:nvPr/>
        </p:nvSpPr>
        <p:spPr>
          <a:xfrm>
            <a:off x="67950" y="3238550"/>
            <a:ext cx="1983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Dans le cadre du cours</a:t>
            </a:r>
            <a:r>
              <a:rPr lang="en-GB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INF8750 - Sécurité des systèmes informatiques – </a:t>
            </a:r>
            <a:endParaRPr b="1"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gr. 050 Hiver 2025</a:t>
            </a:r>
            <a:endParaRPr b="1"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" name="Google Shape;65;p16"/>
          <p:cNvSpPr txBox="1"/>
          <p:nvPr/>
        </p:nvSpPr>
        <p:spPr>
          <a:xfrm>
            <a:off x="2440050" y="8875"/>
            <a:ext cx="6444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3F91"/>
                </a:solidFill>
              </a:rPr>
              <a:t>Vers des UAVs sécurisés :</a:t>
            </a:r>
            <a:endParaRPr b="1"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/>
              <a:t>Conception et développement de méthodes de défense pour contrer les cyberattaques en temps réel via les tests de vulnérabilité avec DroneSploit &amp; DRAT</a:t>
            </a:r>
            <a:endParaRPr b="1" sz="1700"/>
          </a:p>
        </p:txBody>
      </p:sp>
      <p:pic>
        <p:nvPicPr>
          <p:cNvPr id="66" name="Google Shape;6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325" y="1374599"/>
            <a:ext cx="1555147" cy="58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KRACK-logo-small.png - Wikipedia" id="67" name="Google Shape;6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3649" y="2841575"/>
            <a:ext cx="1016709" cy="12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oogle Shape;72;p17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7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0</a:t>
            </a:r>
            <a:endParaRPr b="1" sz="16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31150" y="-20100"/>
            <a:ext cx="6994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Sommaire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7"/>
          <p:cNvSpPr txBox="1"/>
          <p:nvPr/>
        </p:nvSpPr>
        <p:spPr>
          <a:xfrm>
            <a:off x="1099975" y="772275"/>
            <a:ext cx="47592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AutoNum type="arabicPeriod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Contexte et motivation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AutoNum type="arabicPeriod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Problématique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AutoNum type="arabicPeriod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Objectifs du projet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AutoNum type="arabicPeriod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Méthodologie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AutoNum type="arabicPeriod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Solution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AutoNum type="arabicPeriod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Résultats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AutoNum type="arabicPeriod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Étude comparative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AutoNum type="arabicPeriod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Difficultés et limites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AutoNum type="arabicPeriod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Références et Conclusion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8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8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1</a:t>
            </a:r>
            <a:endParaRPr b="1" sz="16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31150" y="-20100"/>
            <a:ext cx="6994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Contexte et motivation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776029" y="517950"/>
            <a:ext cx="3831300" cy="408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4890829" y="517950"/>
            <a:ext cx="3831300" cy="408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1716475" y="503400"/>
            <a:ext cx="19287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643362" y="959738"/>
            <a:ext cx="39816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IBM Plex Sans"/>
              <a:buChar char="●"/>
            </a:pPr>
            <a:r>
              <a:rPr lang="en-GB" sz="1700">
                <a:latin typeface="IBM Plex Sans"/>
                <a:ea typeface="IBM Plex Sans"/>
                <a:cs typeface="IBM Plex Sans"/>
                <a:sym typeface="IBM Plex Sans"/>
              </a:rPr>
              <a:t>Les UAVs sont de plus en plus utilisés dans divers secteurs : </a:t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1" marL="1371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IBM Plex Sans"/>
              <a:buChar char="○"/>
            </a:pPr>
            <a:r>
              <a:rPr lang="en-GB" sz="1700">
                <a:latin typeface="IBM Plex Sans"/>
                <a:ea typeface="IBM Plex Sans"/>
                <a:cs typeface="IBM Plex Sans"/>
                <a:sym typeface="IBM Plex Sans"/>
              </a:rPr>
              <a:t>défense, </a:t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1" marL="1371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IBM Plex Sans"/>
              <a:buChar char="○"/>
            </a:pPr>
            <a:r>
              <a:rPr lang="en-GB" sz="1700">
                <a:latin typeface="IBM Plex Sans"/>
                <a:ea typeface="IBM Plex Sans"/>
                <a:cs typeface="IBM Plex Sans"/>
                <a:sym typeface="IBM Plex Sans"/>
              </a:rPr>
              <a:t>surveillance, </a:t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1" marL="1371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IBM Plex Sans"/>
              <a:buChar char="○"/>
            </a:pPr>
            <a:r>
              <a:rPr lang="en-GB" sz="1700">
                <a:latin typeface="IBM Plex Sans"/>
                <a:ea typeface="IBM Plex Sans"/>
                <a:cs typeface="IBM Plex Sans"/>
                <a:sym typeface="IBM Plex Sans"/>
              </a:rPr>
              <a:t>agriculture, </a:t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IBM Plex Sans"/>
              <a:buChar char="●"/>
            </a:pPr>
            <a:r>
              <a:rPr lang="en-GB" sz="1700">
                <a:latin typeface="IBM Plex Sans"/>
                <a:ea typeface="IBM Plex Sans"/>
                <a:cs typeface="IBM Plex Sans"/>
                <a:sym typeface="IBM Plex Sans"/>
              </a:rPr>
              <a:t>Leur </a:t>
            </a:r>
            <a:r>
              <a:rPr b="1" i="1" lang="en-GB" sz="1700">
                <a:latin typeface="IBM Plex Sans"/>
                <a:ea typeface="IBM Plex Sans"/>
                <a:cs typeface="IBM Plex Sans"/>
                <a:sym typeface="IBM Plex Sans"/>
              </a:rPr>
              <a:t>dépendance aux systèmes de communication sans fil</a:t>
            </a:r>
            <a:r>
              <a:rPr lang="en-GB" sz="1700">
                <a:latin typeface="IBM Plex Sans"/>
                <a:ea typeface="IBM Plex Sans"/>
                <a:cs typeface="IBM Plex Sans"/>
                <a:sym typeface="IBM Plex Sans"/>
              </a:rPr>
              <a:t> les rend </a:t>
            </a:r>
            <a:r>
              <a:rPr b="1" i="1" lang="en-GB" sz="1700">
                <a:latin typeface="IBM Plex Sans"/>
                <a:ea typeface="IBM Plex Sans"/>
                <a:cs typeface="IBM Plex Sans"/>
                <a:sym typeface="IBM Plex Sans"/>
              </a:rPr>
              <a:t>vulnérables</a:t>
            </a:r>
            <a:r>
              <a:rPr lang="en-GB" sz="1700">
                <a:latin typeface="IBM Plex Sans"/>
                <a:ea typeface="IBM Plex Sans"/>
                <a:cs typeface="IBM Plex Sans"/>
                <a:sym typeface="IBM Plex Sans"/>
              </a:rPr>
              <a:t> aux cyberattaques.</a:t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Font typeface="IBM Plex Sans"/>
              <a:buChar char="●"/>
            </a:pPr>
            <a:r>
              <a:rPr b="1" lang="en-GB" sz="1700" u="sng">
                <a:latin typeface="IBM Plex Sans"/>
                <a:ea typeface="IBM Plex Sans"/>
                <a:cs typeface="IBM Plex Sans"/>
                <a:sym typeface="IBM Plex Sans"/>
              </a:rPr>
              <a:t>Objectif principal</a:t>
            </a:r>
            <a:r>
              <a:rPr lang="en-GB" sz="1700">
                <a:latin typeface="IBM Plex Sans"/>
                <a:ea typeface="IBM Plex Sans"/>
                <a:cs typeface="IBM Plex Sans"/>
                <a:sym typeface="IBM Plex Sans"/>
              </a:rPr>
              <a:t> : renforcer la sécurité des UAVs face aux cybermenaces.</a:t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5842125" y="503400"/>
            <a:ext cx="19287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788" y="1238525"/>
            <a:ext cx="3759375" cy="28195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93" name="Google Shape;93;p18"/>
          <p:cNvSpPr txBox="1"/>
          <p:nvPr/>
        </p:nvSpPr>
        <p:spPr>
          <a:xfrm>
            <a:off x="892650" y="4783850"/>
            <a:ext cx="73587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/>
              <a:t>Source de l’image d’usage du drone par secteur d’activité</a:t>
            </a:r>
            <a:r>
              <a:rPr lang="en-GB" sz="1100"/>
              <a:t> :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https://www.flyingeye.fr/secteurs-dactivite-drone/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9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9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2</a:t>
            </a:r>
            <a:endParaRPr b="1" sz="16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Problématique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452663" y="1218450"/>
            <a:ext cx="46191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Char char="●"/>
            </a:pPr>
            <a:r>
              <a:rPr b="1"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Piratage GPS</a:t>
            </a: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Détournement des UAVs vers des zones non sécurisées.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Char char="●"/>
            </a:pPr>
            <a:r>
              <a:rPr b="1"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Attaques DoS</a:t>
            </a: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Saturation des canaux de communication.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Char char="●"/>
            </a:pPr>
            <a:r>
              <a:rPr b="1"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Modification du firmware</a:t>
            </a: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Altération du comportement des UAVs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700" u="sng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Problème à résoudre</a:t>
            </a:r>
            <a:r>
              <a:rPr b="1"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</a:t>
            </a: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Comment détecter et contrer ces attaques en temps réel ?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6925" y="517925"/>
            <a:ext cx="3831000" cy="33690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5167325" y="3886950"/>
            <a:ext cx="37902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 u="sng">
                <a:solidFill>
                  <a:srgbClr val="222222"/>
                </a:solidFill>
                <a:highlight>
                  <a:srgbClr val="FFFFFF"/>
                </a:highlight>
              </a:rPr>
              <a:t>Tirée de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 : 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Sihag, V., Choudhary, G., Choudhary, P., &amp; Dragoni, N. (2023). Cyber4drone: A systematic review of cyber security and forensics in next-generation drones.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Drones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7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(7), 430.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20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20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3</a:t>
            </a:r>
            <a:endParaRPr b="1" sz="16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431150" y="-20100"/>
            <a:ext cx="817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Objectifs du projet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26583" y="4694992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332775" y="974850"/>
            <a:ext cx="47592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Char char="●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Identifier les vulnérabilités des UAVs à l’aide de tests de pénétration.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Char char="●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Développer des techniques de détection et de contre-mesures en temps réel.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Char char="●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Prototyper et valider les solutions sur des drones réels (ou simulés).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BM Plex Sans"/>
              <a:buChar char="●"/>
            </a:pP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Publier les résultats et rendre les outils </a:t>
            </a: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développés</a:t>
            </a:r>
            <a:r>
              <a:rPr lang="en-GB" sz="17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disponibles en open-source.</a:t>
            </a:r>
            <a:endParaRPr sz="17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025" y="822025"/>
            <a:ext cx="3801251" cy="3499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21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21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4.1</a:t>
            </a:r>
            <a:endParaRPr b="1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Méthodologie : outils disponibles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90058" y="46685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413325" y="663350"/>
            <a:ext cx="4639500" cy="4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Outils disponibles dans la littérature </a:t>
            </a:r>
            <a:r>
              <a:rPr lang="en-GB" sz="1700">
                <a:solidFill>
                  <a:schemeClr val="dk1"/>
                </a:solidFill>
              </a:rPr>
              <a:t>pour les tests de pénétration </a:t>
            </a:r>
            <a:r>
              <a:rPr lang="en-GB" sz="1700">
                <a:solidFill>
                  <a:schemeClr val="dk1"/>
                </a:solidFill>
              </a:rPr>
              <a:t>: 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DroneSploit (Accessible) 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https://github.com/dhondta/dronesploit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DRAT - Drone Attack Tools (Inaccessible): 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Veerappan, C. S., Keong, P. L. K., Balachandran, V., &amp; Fadilah, M. S. B. M. (2021, August). Drat: A penetration testing framework for drones. In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2021 IEEE 16th Conference on Industrial Electronics and Applications (ICIEA)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 (pp. 498-503). IEEE.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650" y="472725"/>
            <a:ext cx="3962826" cy="22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5950" y="2745950"/>
            <a:ext cx="2988226" cy="228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22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22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4.2</a:t>
            </a:r>
            <a:endParaRPr b="1" sz="12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Méthodologie : Approche expérimentale adoptée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8490058" y="46685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488700" y="747450"/>
            <a:ext cx="8166600" cy="3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Approche expérimentale : 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Tests de vulnérabilité</a:t>
            </a:r>
            <a:r>
              <a:rPr lang="en-GB" sz="1700">
                <a:solidFill>
                  <a:schemeClr val="dk1"/>
                </a:solidFill>
              </a:rPr>
              <a:t> : Découvrir des failles de </a:t>
            </a:r>
            <a:r>
              <a:rPr lang="en-GB" sz="1700">
                <a:solidFill>
                  <a:schemeClr val="dk1"/>
                </a:solidFill>
              </a:rPr>
              <a:t>sécurité dans les drones, compromettant leur sécurité.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Développement de contre-mesures</a:t>
            </a:r>
            <a:r>
              <a:rPr lang="en-GB" sz="1700">
                <a:solidFill>
                  <a:schemeClr val="dk1"/>
                </a:solidFill>
              </a:rPr>
              <a:t> : mécanismes de défense pour contrer les cyberattaques liées aux failles.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Validation des solutions sur drones</a:t>
            </a:r>
            <a:r>
              <a:rPr lang="en-GB" sz="1700">
                <a:solidFill>
                  <a:schemeClr val="dk1"/>
                </a:solidFill>
              </a:rPr>
              <a:t> : en mode simulation avant de les tester sur des drones physiques.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Diffusion en conférence et en open-source</a:t>
            </a:r>
            <a:r>
              <a:rPr lang="en-GB" sz="1700">
                <a:solidFill>
                  <a:schemeClr val="dk1"/>
                </a:solidFill>
              </a:rPr>
              <a:t> : pour réutilisation et </a:t>
            </a:r>
            <a:r>
              <a:rPr lang="en-GB" sz="1700">
                <a:solidFill>
                  <a:schemeClr val="dk1"/>
                </a:solidFill>
              </a:rPr>
              <a:t>reproductibilité par la communauté (scientifique)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23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3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5.1</a:t>
            </a:r>
            <a:endParaRPr b="1" sz="12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Solution proposée : mécanismes d’attaque et de défense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8566258" y="47447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23"/>
          <p:cNvSpPr txBox="1"/>
          <p:nvPr/>
        </p:nvSpPr>
        <p:spPr>
          <a:xfrm>
            <a:off x="377500" y="560900"/>
            <a:ext cx="52317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🛡️ Architecture Hybride pour la Sécurité des UAVs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Notre solution intègre deux couches complémentaires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Orchestrateur CLI Sécurisé (Terminal Interactif) :</a:t>
            </a:r>
            <a:endParaRPr b="1"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Interface textuelle principale pour simuler, tester et surveiller les attaques et contre-mesures UAV.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Permet de </a:t>
            </a:r>
            <a:r>
              <a:rPr b="1" lang="en-GB" sz="1200">
                <a:solidFill>
                  <a:schemeClr val="dk1"/>
                </a:solidFill>
              </a:rPr>
              <a:t>lancer des attaques (GPS Spoofing, DoS, Firmware)</a:t>
            </a:r>
            <a:r>
              <a:rPr lang="en-GB" sz="1200">
                <a:solidFill>
                  <a:schemeClr val="dk1"/>
                </a:solidFill>
              </a:rPr>
              <a:t> ou d’</a:t>
            </a:r>
            <a:r>
              <a:rPr b="1" lang="en-GB" sz="1200">
                <a:solidFill>
                  <a:schemeClr val="dk1"/>
                </a:solidFill>
              </a:rPr>
              <a:t>activer des défenses</a:t>
            </a:r>
            <a:r>
              <a:rPr lang="en-GB" sz="1200">
                <a:solidFill>
                  <a:schemeClr val="dk1"/>
                </a:solidFill>
              </a:rPr>
              <a:t> (détection d’</a:t>
            </a:r>
            <a:r>
              <a:rPr lang="en-GB" sz="1200">
                <a:solidFill>
                  <a:schemeClr val="dk1"/>
                </a:solidFill>
              </a:rPr>
              <a:t>anomalies</a:t>
            </a:r>
            <a:r>
              <a:rPr lang="en-GB" sz="1200">
                <a:solidFill>
                  <a:schemeClr val="dk1"/>
                </a:solidFill>
              </a:rPr>
              <a:t> GPS, chiffrement AES, communication TLS).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Chaque commande est </a:t>
            </a:r>
            <a:r>
              <a:rPr b="1" lang="en-GB" sz="1200">
                <a:solidFill>
                  <a:schemeClr val="dk1"/>
                </a:solidFill>
              </a:rPr>
              <a:t>journalisée via </a:t>
            </a:r>
            <a:r>
              <a:rPr b="1"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uav_logger</a:t>
            </a:r>
            <a:r>
              <a:rPr lang="en-GB" sz="1200">
                <a:solidFill>
                  <a:schemeClr val="dk1"/>
                </a:solidFill>
              </a:rPr>
              <a:t> avec horodatage pour assurer la traçabilité.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Application Flask Web (Spark-like) :</a:t>
            </a:r>
            <a:endParaRPr b="1"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Interface web légère permettant de </a:t>
            </a:r>
            <a:r>
              <a:rPr b="1" lang="en-GB" sz="1200">
                <a:solidFill>
                  <a:schemeClr val="dk1"/>
                </a:solidFill>
              </a:rPr>
              <a:t>déclencher les mêmes actions via une API REST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Accès distant aux logs en temps réel, envoi de commandes, et visualisation de l’état du système UAV.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Facilite l’intégration avec des outils externes (tableaux de bord, interfaces mobiles, IA de détection).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 u="sng">
                <a:solidFill>
                  <a:schemeClr val="dk1"/>
                </a:solidFill>
              </a:rPr>
              <a:t>Avantage clé</a:t>
            </a:r>
            <a:r>
              <a:rPr b="1" lang="en-GB" sz="1200">
                <a:solidFill>
                  <a:schemeClr val="dk1"/>
                </a:solidFill>
              </a:rPr>
              <a:t> :</a:t>
            </a:r>
            <a:r>
              <a:rPr lang="en-GB" sz="1200">
                <a:solidFill>
                  <a:schemeClr val="dk1"/>
                </a:solidFill>
              </a:rPr>
              <a:t> Cette architecture modulaire permet une </a:t>
            </a:r>
            <a:r>
              <a:rPr b="1" lang="en-GB" sz="1200">
                <a:solidFill>
                  <a:schemeClr val="dk1"/>
                </a:solidFill>
              </a:rPr>
              <a:t>expérimentation rapide</a:t>
            </a:r>
            <a:r>
              <a:rPr lang="en-GB" sz="1200">
                <a:solidFill>
                  <a:schemeClr val="dk1"/>
                </a:solidFill>
              </a:rPr>
              <a:t>, une </a:t>
            </a:r>
            <a:r>
              <a:rPr b="1" lang="en-GB" sz="1200">
                <a:solidFill>
                  <a:schemeClr val="dk1"/>
                </a:solidFill>
              </a:rPr>
              <a:t>surveillance unifiée</a:t>
            </a:r>
            <a:r>
              <a:rPr lang="en-GB" sz="1200">
                <a:solidFill>
                  <a:schemeClr val="dk1"/>
                </a:solidFill>
              </a:rPr>
              <a:t>, et une </a:t>
            </a:r>
            <a:r>
              <a:rPr b="1" lang="en-GB" sz="1200">
                <a:solidFill>
                  <a:schemeClr val="dk1"/>
                </a:solidFill>
              </a:rPr>
              <a:t>défense flexible en conditions simulées</a:t>
            </a:r>
            <a:r>
              <a:rPr lang="en-GB" sz="1200">
                <a:solidFill>
                  <a:schemeClr val="dk1"/>
                </a:solidFill>
              </a:rPr>
              <a:t> contre les cyberattaques ciblant les drones.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600" y="974425"/>
            <a:ext cx="3578400" cy="354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24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4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5.2</a:t>
            </a:r>
            <a:endParaRPr b="1" sz="12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Solution proposée : </a:t>
            </a:r>
            <a:r>
              <a:rPr b="1" lang="en-GB" sz="1700" u="sng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  <a:hlinkClick r:id="rId3"/>
              </a:rPr>
              <a:t>architecture globale et arborescence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66258" y="47447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900" y="486325"/>
            <a:ext cx="6656175" cy="459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5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5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5.3</a:t>
            </a:r>
            <a:endParaRPr b="1" sz="12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Solution proposée : Application web (Flask) &amp; Orchestrateur CLI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566258" y="47447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00" y="578700"/>
            <a:ext cx="3420746" cy="441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3046" y="1387063"/>
            <a:ext cx="4888552" cy="2795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p26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6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6.1</a:t>
            </a:r>
            <a:endParaRPr b="1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Résultats attendus et contributions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490058" y="46685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377488" y="1343925"/>
            <a:ext cx="60039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Détection efficace des cyberattaques en temps réel.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Contre-mesures robustes avec un impact minimal sur les performances des drones.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Au moins une publication scientifique et mise à disposition des outils en open-source.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Impact sur la recherche, la défense et les applications civiles des UAVs.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4675" y="1343925"/>
            <a:ext cx="2389200" cy="23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892650" y="4783850"/>
            <a:ext cx="73587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/>
              <a:t>Source de l’image</a:t>
            </a:r>
            <a:r>
              <a:rPr b="1" lang="en-GB" sz="1100"/>
              <a:t> </a:t>
            </a:r>
            <a:r>
              <a:rPr lang="en-GB" sz="1100"/>
              <a:t>: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https://pypi.org/project/dronesploit/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27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7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6.2</a:t>
            </a:r>
            <a:endParaRPr b="1" sz="11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Résultats obtenus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566258" y="48209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 rotWithShape="1">
          <a:blip r:embed="rId3">
            <a:alphaModFix/>
          </a:blip>
          <a:srcRect b="0" l="0" r="418" t="0"/>
          <a:stretch/>
        </p:blipFill>
        <p:spPr>
          <a:xfrm>
            <a:off x="453700" y="502500"/>
            <a:ext cx="4025262" cy="30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7925" y="502500"/>
            <a:ext cx="4203177" cy="2999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700" y="3599925"/>
            <a:ext cx="8407398" cy="125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28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8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7</a:t>
            </a:r>
            <a:endParaRPr b="1" sz="11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Étude comparative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566258" y="48209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04" name="Google Shape;204;p28"/>
          <p:cNvGraphicFramePr/>
          <p:nvPr/>
        </p:nvGraphicFramePr>
        <p:xfrm>
          <a:off x="486700" y="50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{CB45F15F-94F0-4FC9-A8B7-C9066CFB889A}</a:tableStyleId>
              </a:tblPr>
              <a:tblGrid>
                <a:gridCol w="2131725"/>
                <a:gridCol w="2131725"/>
                <a:gridCol w="2131725"/>
                <a:gridCol w="2131725"/>
              </a:tblGrid>
              <a:tr h="32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Critères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DroneSploit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DRAT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Projet UAV-Sec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67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Fonctionnalités principales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Attaques (GPS, DoS, etc.)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Attaques (Firmware, GPS, etc.)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Attaques 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ET Défenses (TLS, AES, Anomalies)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Mécanismes de défense intégrés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Aucun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Aucun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TLS, AES, détection d’anomalies GPS 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7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Interface utilisateur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CLI uniquement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Interface Web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Menu CLI simple + application Flask (UI)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Accessibilité du code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Open Source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Privé / non accessible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Open Source et personnalisable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1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Extensibilité / Modularité     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Moyenne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Fermé        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 Modules séparés attaque / défense 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1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Utilisation pédagogique et simulation</a:t>
                      </a:r>
                      <a:endParaRPr b="1"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Adapté aux non-informaticiens   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Complexe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Non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Restreinte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Oui, mais inaccessible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Simulable localement (UAV virtuel)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Oui (via interface Flask et journaux)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9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8</a:t>
            </a:r>
            <a:endParaRPr b="1" sz="16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Difficultés et limites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8490058" y="46685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9"/>
          <p:cNvSpPr txBox="1"/>
          <p:nvPr/>
        </p:nvSpPr>
        <p:spPr>
          <a:xfrm>
            <a:off x="502300" y="1011938"/>
            <a:ext cx="44478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Limitations des outils de test (DroneSploit et DRAT).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Simulation d’attaques réalistes en temps réel.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Validation des algorithmes de défense contre des menaces complexes.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Contraintes matérielles et tests limités à un environnement contrôlé.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15" name="Google Shape;21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675" y="875363"/>
            <a:ext cx="3492101" cy="282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925075" y="4794650"/>
            <a:ext cx="7731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 u="sng"/>
              <a:t>Source de l’image</a:t>
            </a:r>
            <a:r>
              <a:rPr lang="en-GB" sz="900"/>
              <a:t> : </a:t>
            </a:r>
            <a:r>
              <a:rPr lang="en-GB" sz="900" u="sng">
                <a:solidFill>
                  <a:schemeClr val="hlink"/>
                </a:solidFill>
                <a:hlinkClick r:id="rId4"/>
              </a:rPr>
              <a:t>https://www.marktechpost.com/2024/05/13/advances-and-challenges-in-drone-detection-and-classification-techniques/</a:t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Google Shape;221;p30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30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0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9</a:t>
            </a:r>
            <a:endParaRPr b="1" sz="16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Références et Conclusion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5" name="Google Shape;225;p30"/>
          <p:cNvSpPr txBox="1"/>
          <p:nvPr>
            <p:ph idx="12" type="sldNum"/>
          </p:nvPr>
        </p:nvSpPr>
        <p:spPr>
          <a:xfrm>
            <a:off x="8490058" y="46685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30"/>
          <p:cNvSpPr txBox="1"/>
          <p:nvPr/>
        </p:nvSpPr>
        <p:spPr>
          <a:xfrm>
            <a:off x="397350" y="897900"/>
            <a:ext cx="83493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Ce projet propose une approche innovante pour sécuriser les UAVs contre les cyberattaques.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Les résultats pour </a:t>
            </a:r>
            <a:r>
              <a:rPr lang="en-GB" sz="1700">
                <a:solidFill>
                  <a:schemeClr val="dk1"/>
                </a:solidFill>
              </a:rPr>
              <a:t>être</a:t>
            </a:r>
            <a:r>
              <a:rPr lang="en-GB" sz="1700">
                <a:solidFill>
                  <a:schemeClr val="dk1"/>
                </a:solidFill>
              </a:rPr>
              <a:t> testés sur des drones DJI et partagés avec la communauté scientifique.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Références :</a:t>
            </a:r>
            <a:endParaRPr sz="1700">
              <a:solidFill>
                <a:schemeClr val="dk1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-GB" sz="1300">
                <a:solidFill>
                  <a:schemeClr val="dk1"/>
                </a:solidFill>
              </a:rPr>
              <a:t>C. S. Veerappan et al. “DRAT: A Penetration Testing Framework for Drones”. In: 2021 IEEE 16th Conference on Industrial Electronics and Applications (ICIEA). IEEE. 2021, pp. 498–503.</a:t>
            </a:r>
            <a:endParaRPr sz="1300">
              <a:solidFill>
                <a:schemeClr val="dk1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-GB" sz="1300">
                <a:solidFill>
                  <a:schemeClr val="dk1"/>
                </a:solidFill>
              </a:rPr>
              <a:t>A. Eldosouky, A. Ferdowsi, and W. Saad. “Drones in distress: A game-theoretic countermeasure for protecting UAVs against GPS spoofing”. In: IEEE Internet of Things Journal 7.4 (2019), pp. 2840–2854.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F8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Google Shape;231;p31"/>
          <p:cNvCxnSpPr/>
          <p:nvPr/>
        </p:nvCxnSpPr>
        <p:spPr>
          <a:xfrm>
            <a:off x="-47585" y="412529"/>
            <a:ext cx="9213600" cy="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31"/>
          <p:cNvSpPr/>
          <p:nvPr/>
        </p:nvSpPr>
        <p:spPr>
          <a:xfrm>
            <a:off x="-16100" y="-12525"/>
            <a:ext cx="393600" cy="5156100"/>
          </a:xfrm>
          <a:prstGeom prst="rect">
            <a:avLst/>
          </a:prstGeom>
          <a:solidFill>
            <a:srgbClr val="1C4587">
              <a:alpha val="4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-16100" y="-6300"/>
            <a:ext cx="393600" cy="418800"/>
          </a:xfrm>
          <a:prstGeom prst="rect">
            <a:avLst/>
          </a:prstGeom>
          <a:solidFill>
            <a:srgbClr val="003F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9</a:t>
            </a:r>
            <a:endParaRPr b="1" sz="1600">
              <a:solidFill>
                <a:srgbClr val="FFFFFF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4" name="Google Shape;234;p31"/>
          <p:cNvSpPr txBox="1"/>
          <p:nvPr/>
        </p:nvSpPr>
        <p:spPr>
          <a:xfrm>
            <a:off x="431150" y="-20100"/>
            <a:ext cx="609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Remerciements &amp; Questions-Réponses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5" name="Google Shape;235;p31"/>
          <p:cNvSpPr txBox="1"/>
          <p:nvPr>
            <p:ph idx="12" type="sldNum"/>
          </p:nvPr>
        </p:nvSpPr>
        <p:spPr>
          <a:xfrm>
            <a:off x="8490058" y="466856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HD wallpaper: Q&amp;A Message Meaning Questions Answers And Assistance ..."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363" y="541300"/>
            <a:ext cx="6323283" cy="441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